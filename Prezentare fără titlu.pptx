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2c72312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2c72312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2c7231270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c2c723127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2c7231270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2c7231270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2c7231270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2c7231270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2c7231270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2c7231270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2c7231270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2c7231270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2c7231270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2c7231270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2c7231270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2c7231270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POwTI507zEF-BAszHhFj_ZFS7CT3SHdA/view" TargetMode="External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hyperlink" Target="http://drive.google.com/file/d/1hHvQ7jAWbXFhLpRjkDQ6HRE5HKSJiijs/view" TargetMode="External"/><Relationship Id="rId5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hyperlink" Target="https://engagevr.io/" TargetMode="External"/><Relationship Id="rId11" Type="http://schemas.openxmlformats.org/officeDocument/2006/relationships/hyperlink" Target="https://docs.unity3d.com/Packages/com.unity.xr.openxr@1.9/manual/index.html" TargetMode="External"/><Relationship Id="rId10" Type="http://schemas.openxmlformats.org/officeDocument/2006/relationships/hyperlink" Target="https://docs.unity3d.com/Packages/com.unity.xr.openxr@1.9/manual/index.html" TargetMode="External"/><Relationship Id="rId21" Type="http://schemas.openxmlformats.org/officeDocument/2006/relationships/image" Target="../media/image4.png"/><Relationship Id="rId13" Type="http://schemas.openxmlformats.org/officeDocument/2006/relationships/hyperlink" Target="https://assetstore.unity.com/packages/tools/integration/oculus-integration-82022" TargetMode="External"/><Relationship Id="rId12" Type="http://schemas.openxmlformats.org/officeDocument/2006/relationships/hyperlink" Target="https://docs.unity3d.com/Packages/com.unity.xr.openxr@1.9/manual/index.html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geo2405/IMR_Project?utm_source=chatgpt.com" TargetMode="External"/><Relationship Id="rId4" Type="http://schemas.openxmlformats.org/officeDocument/2006/relationships/hyperlink" Target="https://github.com/geo2405/IMR_Project?utm_source=chatgpt.com" TargetMode="External"/><Relationship Id="rId9" Type="http://schemas.openxmlformats.org/officeDocument/2006/relationships/hyperlink" Target="https://docs.unity3d.com/Packages/com.unity.xr.interaction.toolkit@2.3/manual/index.html" TargetMode="External"/><Relationship Id="rId15" Type="http://schemas.openxmlformats.org/officeDocument/2006/relationships/hyperlink" Target="https://docs.unity3d.com/Packages/com.unity.textmeshpro@3.0/manual/index.html" TargetMode="External"/><Relationship Id="rId14" Type="http://schemas.openxmlformats.org/officeDocument/2006/relationships/hyperlink" Target="https://assetstore.unity.com/packages/tools/integration/oculus-integration-82022" TargetMode="External"/><Relationship Id="rId17" Type="http://schemas.openxmlformats.org/officeDocument/2006/relationships/hyperlink" Target="https://lmstudio.ai/" TargetMode="External"/><Relationship Id="rId16" Type="http://schemas.openxmlformats.org/officeDocument/2006/relationships/hyperlink" Target="https://docs.unity3d.com/Packages/com.unity.textmeshpro@3.0/manual/index.html" TargetMode="External"/><Relationship Id="rId5" Type="http://schemas.openxmlformats.org/officeDocument/2006/relationships/hyperlink" Target="https://unity.com/releases/editor/archive" TargetMode="External"/><Relationship Id="rId19" Type="http://schemas.openxmlformats.org/officeDocument/2006/relationships/hyperlink" Target="https://engagevr.io/" TargetMode="External"/><Relationship Id="rId6" Type="http://schemas.openxmlformats.org/officeDocument/2006/relationships/hyperlink" Target="https://unity.com/releases/editor/archive" TargetMode="External"/><Relationship Id="rId18" Type="http://schemas.openxmlformats.org/officeDocument/2006/relationships/hyperlink" Target="https://lmstudio.ai/" TargetMode="External"/><Relationship Id="rId7" Type="http://schemas.openxmlformats.org/officeDocument/2006/relationships/hyperlink" Target="https://www.blender.org/download/releases/3-6/" TargetMode="External"/><Relationship Id="rId8" Type="http://schemas.openxmlformats.org/officeDocument/2006/relationships/hyperlink" Target="https://www.blender.org/download/releases/3-6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2607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" sz="4700"/>
              <a:t>FIIVerse</a:t>
            </a:r>
            <a:endParaRPr sz="4700"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074050"/>
            <a:ext cx="53805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2200"/>
              <a:t>Scurtă descriere</a:t>
            </a:r>
            <a:endParaRPr b="1"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ro" sz="1600">
                <a:latin typeface="Times New Roman"/>
                <a:ea typeface="Times New Roman"/>
                <a:cs typeface="Times New Roman"/>
                <a:sym typeface="Times New Roman"/>
              </a:rPr>
              <a:t>O experiență VR completă în care explorezi etajul doi al </a:t>
            </a:r>
            <a:r>
              <a:rPr b="1" i="1" lang="ro" sz="1600">
                <a:latin typeface="Times New Roman"/>
                <a:ea typeface="Times New Roman"/>
                <a:cs typeface="Times New Roman"/>
                <a:sym typeface="Times New Roman"/>
              </a:rPr>
              <a:t>Facultății de Informatică din Iași</a:t>
            </a:r>
            <a:r>
              <a:rPr i="1" lang="ro" sz="1600">
                <a:latin typeface="Times New Roman"/>
                <a:ea typeface="Times New Roman"/>
                <a:cs typeface="Times New Roman"/>
                <a:sym typeface="Times New Roman"/>
              </a:rPr>
              <a:t>, întâlnești avataruri inteligente ale profesorilor și descoperi, prin discuții simulate și potrivire pe interese, care ar fi coordonatorul de licență cel mai potrivit pentru tine.</a:t>
            </a:r>
            <a:endParaRPr i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o"/>
              <a:t>Echipa:</a:t>
            </a:r>
            <a:endParaRPr b="1" sz="1400"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i="1" lang="ro" sz="1400">
                <a:latin typeface="Arial"/>
                <a:ea typeface="Arial"/>
                <a:cs typeface="Arial"/>
                <a:sym typeface="Arial"/>
              </a:rPr>
              <a:t>Chelba Sergiu-Mihai</a:t>
            </a:r>
            <a:endParaRPr i="1" sz="1400">
              <a:latin typeface="Arial"/>
              <a:ea typeface="Arial"/>
              <a:cs typeface="Arial"/>
              <a:sym typeface="Arial"/>
            </a:endParaRPr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i="1" lang="ro" sz="1400">
                <a:latin typeface="Arial"/>
                <a:ea typeface="Arial"/>
                <a:cs typeface="Arial"/>
                <a:sym typeface="Arial"/>
              </a:rPr>
              <a:t>Maciuc Mihai</a:t>
            </a:r>
            <a:endParaRPr i="1" sz="1400">
              <a:latin typeface="Arial"/>
              <a:ea typeface="Arial"/>
              <a:cs typeface="Arial"/>
              <a:sym typeface="Arial"/>
            </a:endParaRPr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i="1" lang="ro" sz="1400">
                <a:latin typeface="Arial"/>
                <a:ea typeface="Arial"/>
                <a:cs typeface="Arial"/>
                <a:sym typeface="Arial"/>
              </a:rPr>
              <a:t>Prodan Beatrice</a:t>
            </a:r>
            <a:endParaRPr i="1" sz="1400"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SzPct val="78571"/>
              <a:buFont typeface="Arial"/>
              <a:buChar char="●"/>
            </a:pPr>
            <a:r>
              <a:rPr i="1" lang="ro" sz="1400">
                <a:latin typeface="Arial"/>
                <a:ea typeface="Arial"/>
                <a:cs typeface="Arial"/>
                <a:sym typeface="Arial"/>
              </a:rPr>
              <a:t>Răducanu Georgiana-Elena</a:t>
            </a:r>
            <a:br>
              <a:rPr lang="r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7547" y="260750"/>
            <a:ext cx="3288953" cy="4402476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7325" y="260762"/>
            <a:ext cx="1820449" cy="11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709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FIIVerse - Ce este?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191850" y="1304650"/>
            <a:ext cx="68451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" sz="2200">
                <a:latin typeface="Times New Roman"/>
                <a:ea typeface="Times New Roman"/>
                <a:cs typeface="Times New Roman"/>
                <a:sym typeface="Times New Roman"/>
              </a:rPr>
              <a:t>Proiectul oferă o </a:t>
            </a:r>
            <a:r>
              <a:rPr i="1" lang="ro" sz="2200">
                <a:latin typeface="Times New Roman"/>
                <a:ea typeface="Times New Roman"/>
                <a:cs typeface="Times New Roman"/>
                <a:sym typeface="Times New Roman"/>
              </a:rPr>
              <a:t>experiență full </a:t>
            </a:r>
            <a:r>
              <a:rPr b="1" i="1" lang="ro" sz="2200">
                <a:latin typeface="Times New Roman"/>
                <a:ea typeface="Times New Roman"/>
                <a:cs typeface="Times New Roman"/>
                <a:sym typeface="Times New Roman"/>
              </a:rPr>
              <a:t>VR</a:t>
            </a:r>
            <a:r>
              <a:rPr b="1" lang="ro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o" sz="2200">
                <a:latin typeface="Times New Roman"/>
                <a:ea typeface="Times New Roman"/>
                <a:cs typeface="Times New Roman"/>
                <a:sym typeface="Times New Roman"/>
              </a:rPr>
              <a:t>în care studenții: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ro" sz="1900">
                <a:latin typeface="Times New Roman"/>
                <a:ea typeface="Times New Roman"/>
                <a:cs typeface="Times New Roman"/>
                <a:sym typeface="Times New Roman"/>
              </a:rPr>
              <a:t>Își pot configura </a:t>
            </a:r>
            <a:r>
              <a:rPr i="1" lang="ro" sz="1900">
                <a:latin typeface="Times New Roman"/>
                <a:ea typeface="Times New Roman"/>
                <a:cs typeface="Times New Roman"/>
                <a:sym typeface="Times New Roman"/>
              </a:rPr>
              <a:t>propriul profil</a:t>
            </a:r>
            <a:r>
              <a:rPr lang="ro" sz="1900">
                <a:latin typeface="Times New Roman"/>
                <a:ea typeface="Times New Roman"/>
                <a:cs typeface="Times New Roman"/>
                <a:sym typeface="Times New Roman"/>
              </a:rPr>
              <a:t>, bazat pe interesele și pasiunile acestora în domeniul IT;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ro" sz="1900">
                <a:latin typeface="Times New Roman"/>
                <a:ea typeface="Times New Roman"/>
                <a:cs typeface="Times New Roman"/>
                <a:sym typeface="Times New Roman"/>
              </a:rPr>
              <a:t>Vizitează </a:t>
            </a:r>
            <a:r>
              <a:rPr i="1" lang="ro" sz="1900">
                <a:latin typeface="Times New Roman"/>
                <a:ea typeface="Times New Roman"/>
                <a:cs typeface="Times New Roman"/>
                <a:sym typeface="Times New Roman"/>
              </a:rPr>
              <a:t>sălile și laboratoarele FII</a:t>
            </a:r>
            <a:r>
              <a:rPr lang="ro" sz="1900">
                <a:latin typeface="Times New Roman"/>
                <a:ea typeface="Times New Roman"/>
                <a:cs typeface="Times New Roman"/>
                <a:sym typeface="Times New Roman"/>
              </a:rPr>
              <a:t> în VR;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i="1" lang="ro" sz="1900">
                <a:latin typeface="Times New Roman"/>
                <a:ea typeface="Times New Roman"/>
                <a:cs typeface="Times New Roman"/>
                <a:sym typeface="Times New Roman"/>
              </a:rPr>
              <a:t>Discută cu avataruri AI</a:t>
            </a:r>
            <a:r>
              <a:rPr lang="ro" sz="1900">
                <a:latin typeface="Times New Roman"/>
                <a:ea typeface="Times New Roman"/>
                <a:cs typeface="Times New Roman"/>
                <a:sym typeface="Times New Roman"/>
              </a:rPr>
              <a:t> ce reflectă interesele reale ale profesorilor;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ro" sz="1900">
                <a:latin typeface="Times New Roman"/>
                <a:ea typeface="Times New Roman"/>
                <a:cs typeface="Times New Roman"/>
                <a:sym typeface="Times New Roman"/>
              </a:rPr>
              <a:t>Primesc un </a:t>
            </a:r>
            <a:r>
              <a:rPr i="1" lang="ro" sz="1900">
                <a:latin typeface="Times New Roman"/>
                <a:ea typeface="Times New Roman"/>
                <a:cs typeface="Times New Roman"/>
                <a:sym typeface="Times New Roman"/>
              </a:rPr>
              <a:t>scor de compatibilitate</a:t>
            </a:r>
            <a:r>
              <a:rPr lang="ro" sz="1900">
                <a:latin typeface="Times New Roman"/>
                <a:ea typeface="Times New Roman"/>
                <a:cs typeface="Times New Roman"/>
                <a:sym typeface="Times New Roman"/>
              </a:rPr>
              <a:t> în funcție de interacțiuni;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ro" sz="1900">
                <a:latin typeface="Times New Roman"/>
                <a:ea typeface="Times New Roman"/>
                <a:cs typeface="Times New Roman"/>
                <a:sym typeface="Times New Roman"/>
              </a:rPr>
              <a:t>Participă la </a:t>
            </a:r>
            <a:r>
              <a:rPr i="1" lang="ro" sz="1900">
                <a:latin typeface="Times New Roman"/>
                <a:ea typeface="Times New Roman"/>
                <a:cs typeface="Times New Roman"/>
                <a:sym typeface="Times New Roman"/>
              </a:rPr>
              <a:t>mini quest-uri</a:t>
            </a:r>
            <a:r>
              <a:rPr lang="ro" sz="1900">
                <a:latin typeface="Times New Roman"/>
                <a:ea typeface="Times New Roman"/>
                <a:cs typeface="Times New Roman"/>
                <a:sym typeface="Times New Roman"/>
              </a:rPr>
              <a:t> și provocări gamificate.</a:t>
            </a:r>
            <a:endParaRPr sz="1900"/>
          </a:p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 rotWithShape="1">
          <a:blip r:embed="rId3">
            <a:alphaModFix/>
          </a:blip>
          <a:srcRect b="11582" l="0" r="0" t="0"/>
          <a:stretch/>
        </p:blipFill>
        <p:spPr>
          <a:xfrm>
            <a:off x="4377025" y="27425"/>
            <a:ext cx="2563750" cy="1542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0638" y="407412"/>
            <a:ext cx="1220801" cy="782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 rotWithShape="1">
          <a:blip r:embed="rId5">
            <a:alphaModFix/>
          </a:blip>
          <a:srcRect b="6777" l="0" r="1078" t="0"/>
          <a:stretch/>
        </p:blipFill>
        <p:spPr>
          <a:xfrm>
            <a:off x="6940775" y="1570025"/>
            <a:ext cx="2080525" cy="2915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709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3200"/>
              <a:t>FIIVerse - Prototip Funcțional - Implementare</a:t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-197625" y="1266325"/>
            <a:ext cx="8965200" cy="36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ro" sz="1200">
                <a:latin typeface="Times New Roman"/>
                <a:ea typeface="Times New Roman"/>
                <a:cs typeface="Times New Roman"/>
                <a:sym typeface="Times New Roman"/>
              </a:rPr>
              <a:t>Etajul 2 al FII a fost </a:t>
            </a:r>
            <a:r>
              <a:rPr b="1" lang="ro" sz="1200">
                <a:latin typeface="Times New Roman"/>
                <a:ea typeface="Times New Roman"/>
                <a:cs typeface="Times New Roman"/>
                <a:sym typeface="Times New Roman"/>
              </a:rPr>
              <a:t>scanat 3D</a:t>
            </a:r>
            <a:r>
              <a:rPr lang="ro" sz="1200">
                <a:latin typeface="Times New Roman"/>
                <a:ea typeface="Times New Roman"/>
                <a:cs typeface="Times New Roman"/>
                <a:sym typeface="Times New Roman"/>
              </a:rPr>
              <a:t> și importat în Unity.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ro" sz="1200">
                <a:latin typeface="Times New Roman"/>
                <a:ea typeface="Times New Roman"/>
                <a:cs typeface="Times New Roman"/>
                <a:sym typeface="Times New Roman"/>
              </a:rPr>
              <a:t>Modelele și decorul au fost </a:t>
            </a:r>
            <a:r>
              <a:rPr b="1" lang="ro" sz="1200">
                <a:latin typeface="Times New Roman"/>
                <a:ea typeface="Times New Roman"/>
                <a:cs typeface="Times New Roman"/>
                <a:sym typeface="Times New Roman"/>
              </a:rPr>
              <a:t>curățate și optimizate în Blender</a:t>
            </a:r>
            <a:r>
              <a:rPr lang="ro" sz="12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ro" sz="1200">
                <a:latin typeface="Times New Roman"/>
                <a:ea typeface="Times New Roman"/>
                <a:cs typeface="Times New Roman"/>
                <a:sym typeface="Times New Roman"/>
              </a:rPr>
              <a:t>Spațiul VR include holurile și laboratoarele, reconstruite realist.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ro" sz="1200">
                <a:latin typeface="Times New Roman"/>
                <a:ea typeface="Times New Roman"/>
                <a:cs typeface="Times New Roman"/>
                <a:sym typeface="Times New Roman"/>
              </a:rPr>
              <a:t>Deplasarea utilizatorului se face </a:t>
            </a:r>
            <a:r>
              <a:rPr b="1" lang="ro" sz="1200">
                <a:latin typeface="Times New Roman"/>
                <a:ea typeface="Times New Roman"/>
                <a:cs typeface="Times New Roman"/>
                <a:sym typeface="Times New Roman"/>
              </a:rPr>
              <a:t>prin mers natural</a:t>
            </a:r>
            <a:r>
              <a:rPr lang="ro" sz="1200">
                <a:latin typeface="Times New Roman"/>
                <a:ea typeface="Times New Roman"/>
                <a:cs typeface="Times New Roman"/>
                <a:sym typeface="Times New Roman"/>
              </a:rPr>
              <a:t> în scena VR.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ro" sz="1200">
                <a:latin typeface="Times New Roman"/>
                <a:ea typeface="Times New Roman"/>
                <a:cs typeface="Times New Roman"/>
                <a:sym typeface="Times New Roman"/>
              </a:rPr>
              <a:t>Interacțiunile de bază sunt gestionate prin </a:t>
            </a:r>
            <a:r>
              <a:rPr b="1" lang="ro" sz="1200">
                <a:latin typeface="Times New Roman"/>
                <a:ea typeface="Times New Roman"/>
                <a:cs typeface="Times New Roman"/>
                <a:sym typeface="Times New Roman"/>
              </a:rPr>
              <a:t>XR Interaction Toolkit</a:t>
            </a:r>
            <a:r>
              <a:rPr lang="ro" sz="12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ro" sz="1200">
                <a:latin typeface="Times New Roman"/>
                <a:ea typeface="Times New Roman"/>
                <a:cs typeface="Times New Roman"/>
                <a:sym typeface="Times New Roman"/>
              </a:rPr>
              <a:t>Avatarurile profesorilor sunt poziționate în mediul VR.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ro" sz="1200">
                <a:latin typeface="Times New Roman"/>
                <a:ea typeface="Times New Roman"/>
                <a:cs typeface="Times New Roman"/>
                <a:sym typeface="Times New Roman"/>
              </a:rPr>
              <a:t>Sistemul de dialog funcționează prin </a:t>
            </a:r>
            <a:r>
              <a:rPr b="1" lang="ro" sz="1200">
                <a:latin typeface="Times New Roman"/>
                <a:ea typeface="Times New Roman"/>
                <a:cs typeface="Times New Roman"/>
                <a:sym typeface="Times New Roman"/>
              </a:rPr>
              <a:t>LM Studio rulat local</a:t>
            </a:r>
            <a:r>
              <a:rPr lang="ro" sz="1200">
                <a:latin typeface="Times New Roman"/>
                <a:ea typeface="Times New Roman"/>
                <a:cs typeface="Times New Roman"/>
                <a:sym typeface="Times New Roman"/>
              </a:rPr>
              <a:t>, care generează răspunsurile AI.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ro" sz="1200">
                <a:latin typeface="Times New Roman"/>
                <a:ea typeface="Times New Roman"/>
                <a:cs typeface="Times New Roman"/>
                <a:sym typeface="Times New Roman"/>
              </a:rPr>
              <a:t>Fluxul principal implementat: </a:t>
            </a:r>
            <a:r>
              <a:rPr b="1" lang="ro" sz="1200">
                <a:latin typeface="Times New Roman"/>
                <a:ea typeface="Times New Roman"/>
                <a:cs typeface="Times New Roman"/>
                <a:sym typeface="Times New Roman"/>
              </a:rPr>
              <a:t>Explorare → Găsire avatar → Inițiere conversație AI</a:t>
            </a:r>
            <a:r>
              <a:rPr lang="ro" sz="12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ro" sz="1200">
                <a:latin typeface="Times New Roman"/>
                <a:ea typeface="Times New Roman"/>
                <a:cs typeface="Times New Roman"/>
                <a:sym typeface="Times New Roman"/>
              </a:rPr>
              <a:t>Prototipul oferă un </a:t>
            </a:r>
            <a:r>
              <a:rPr b="1" lang="ro" sz="1200">
                <a:latin typeface="Times New Roman"/>
                <a:ea typeface="Times New Roman"/>
                <a:cs typeface="Times New Roman"/>
                <a:sym typeface="Times New Roman"/>
              </a:rPr>
              <a:t>tur VR funcțional și interactiv</a:t>
            </a:r>
            <a:r>
              <a:rPr lang="ro" sz="1200">
                <a:latin typeface="Times New Roman"/>
                <a:ea typeface="Times New Roman"/>
                <a:cs typeface="Times New Roman"/>
                <a:sym typeface="Times New Roman"/>
              </a:rPr>
              <a:t> al etajului 2.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  <p:pic>
        <p:nvPicPr>
          <p:cNvPr id="76" name="Google Shape;76;p15" title="20251124-1420-51.2910627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1470" y="1486825"/>
            <a:ext cx="4058674" cy="15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6117" y="3218650"/>
            <a:ext cx="2696250" cy="164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70638" y="407412"/>
            <a:ext cx="1220801" cy="78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  <p:pic>
        <p:nvPicPr>
          <p:cNvPr id="84" name="Google Shape;84;p16"/>
          <p:cNvPicPr preferRelativeResize="0"/>
          <p:nvPr/>
        </p:nvPicPr>
        <p:blipFill rotWithShape="1">
          <a:blip r:embed="rId3">
            <a:alphaModFix/>
          </a:blip>
          <a:srcRect b="0" l="0" r="27033" t="0"/>
          <a:stretch/>
        </p:blipFill>
        <p:spPr>
          <a:xfrm>
            <a:off x="311700" y="127675"/>
            <a:ext cx="2898800" cy="180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 rotWithShape="1">
          <a:blip r:embed="rId4">
            <a:alphaModFix/>
          </a:blip>
          <a:srcRect b="0" l="0" r="33262" t="0"/>
          <a:stretch/>
        </p:blipFill>
        <p:spPr>
          <a:xfrm>
            <a:off x="311700" y="2050450"/>
            <a:ext cx="3861575" cy="246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 rotWithShape="1">
          <a:blip r:embed="rId5">
            <a:alphaModFix/>
          </a:blip>
          <a:srcRect b="0" l="0" r="13636" t="0"/>
          <a:stretch/>
        </p:blipFill>
        <p:spPr>
          <a:xfrm>
            <a:off x="3551550" y="127675"/>
            <a:ext cx="3742211" cy="180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5175" y="2050450"/>
            <a:ext cx="2368581" cy="246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70638" y="407412"/>
            <a:ext cx="1220801" cy="78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0638" y="407412"/>
            <a:ext cx="1220801" cy="782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 title="58edec9a-0ee0-4c9a-a935-e079a1f3dc20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7225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709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 sz="3000"/>
              <a:t>FIIVerse - Prototip Funcțional - Testing Conclusions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194225" y="125647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o" sz="1900">
                <a:latin typeface="Times New Roman"/>
                <a:ea typeface="Times New Roman"/>
                <a:cs typeface="Times New Roman"/>
                <a:sym typeface="Times New Roman"/>
              </a:rPr>
              <a:t>Mersul natural și navigarea în VR funcționează stabil.</a:t>
            </a:r>
            <a:br>
              <a:rPr lang="ro" sz="19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o" sz="1900">
                <a:latin typeface="Times New Roman"/>
                <a:ea typeface="Times New Roman"/>
                <a:cs typeface="Times New Roman"/>
                <a:sym typeface="Times New Roman"/>
              </a:rPr>
              <a:t>Spațiul scanat este realist și bine integrat în Unity.</a:t>
            </a:r>
            <a:br>
              <a:rPr lang="ro" sz="19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o" sz="1900">
                <a:latin typeface="Times New Roman"/>
                <a:ea typeface="Times New Roman"/>
                <a:cs typeface="Times New Roman"/>
                <a:sym typeface="Times New Roman"/>
              </a:rPr>
              <a:t>Avatarurile AI răspund corect prin LM Studio, dar necesită rafinare.</a:t>
            </a:r>
            <a:br>
              <a:rPr lang="ro" sz="19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ro" sz="1900">
                <a:latin typeface="Times New Roman"/>
                <a:ea typeface="Times New Roman"/>
                <a:cs typeface="Times New Roman"/>
                <a:sym typeface="Times New Roman"/>
              </a:rPr>
              <a:t>Prototipul confirmă fezabilitatea conceptului FIIVerse.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0638" y="407412"/>
            <a:ext cx="1220801" cy="78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709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FIIVerse - Care sunt următorii pași?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1266325"/>
            <a:ext cx="42603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ro" sz="2200">
                <a:latin typeface="Times New Roman"/>
                <a:ea typeface="Times New Roman"/>
                <a:cs typeface="Times New Roman"/>
                <a:sym typeface="Times New Roman"/>
              </a:rPr>
              <a:t>Animații și expresivitate avataruri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ro" sz="2200">
                <a:latin typeface="Times New Roman"/>
                <a:ea typeface="Times New Roman"/>
                <a:cs typeface="Times New Roman"/>
                <a:sym typeface="Times New Roman"/>
              </a:rPr>
              <a:t>Dialog AI îmbunătățit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ro" sz="2200">
                <a:latin typeface="Times New Roman"/>
                <a:ea typeface="Times New Roman"/>
                <a:cs typeface="Times New Roman"/>
                <a:sym typeface="Times New Roman"/>
              </a:rPr>
              <a:t>Optimizări performanță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ro" sz="2200">
                <a:latin typeface="Times New Roman"/>
                <a:ea typeface="Times New Roman"/>
                <a:cs typeface="Times New Roman"/>
                <a:sym typeface="Times New Roman"/>
              </a:rPr>
              <a:t>UI VR complet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ro" sz="2200">
                <a:latin typeface="Times New Roman"/>
                <a:ea typeface="Times New Roman"/>
                <a:cs typeface="Times New Roman"/>
                <a:sym typeface="Times New Roman"/>
              </a:rPr>
              <a:t>Realism sporit al mediului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ro" sz="2200">
                <a:latin typeface="Times New Roman"/>
                <a:ea typeface="Times New Roman"/>
                <a:cs typeface="Times New Roman"/>
                <a:sym typeface="Times New Roman"/>
              </a:rPr>
              <a:t>Stabilizare locomotion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10" name="Google Shape;11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  <p:sp>
        <p:nvSpPr>
          <p:cNvPr id="111" name="Google Shape;111;p19"/>
          <p:cNvSpPr txBox="1"/>
          <p:nvPr/>
        </p:nvSpPr>
        <p:spPr>
          <a:xfrm>
            <a:off x="4863750" y="1531200"/>
            <a:ext cx="3297900" cy="20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Open Sans"/>
              <a:buChar char="●"/>
            </a:pPr>
            <a:r>
              <a:rPr lang="ro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Zone de activare avatar</a:t>
            </a:r>
            <a:endParaRPr sz="2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Open Sans"/>
              <a:buChar char="●"/>
            </a:pPr>
            <a:r>
              <a:rPr lang="ro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Sistem feedback în VR</a:t>
            </a:r>
            <a:endParaRPr sz="2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Open Sans"/>
              <a:buChar char="●"/>
            </a:pPr>
            <a:r>
              <a:rPr lang="ro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Testare extinsă</a:t>
            </a:r>
            <a:endParaRPr sz="2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Open Sans"/>
              <a:buChar char="●"/>
            </a:pPr>
            <a:r>
              <a:rPr lang="ro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Versiune demo finală</a:t>
            </a:r>
            <a:endParaRPr sz="2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Open Sans"/>
              <a:buChar char="●"/>
            </a:pPr>
            <a:r>
              <a:rPr lang="ro" sz="2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Gamification</a:t>
            </a:r>
            <a:endParaRPr sz="2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0638" y="407412"/>
            <a:ext cx="1220801" cy="78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FIIVerse - Relevant Links</a:t>
            </a:r>
            <a:endParaRPr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311700" y="1109000"/>
            <a:ext cx="57579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Repository</a:t>
            </a:r>
            <a:endParaRPr b="1"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ro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(proiect &amp; cod sursă):</a:t>
            </a:r>
            <a:br>
              <a:rPr lang="ro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o" sz="12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ro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https://github.com/geo2405/IMR_Project</a:t>
            </a:r>
            <a:endParaRPr b="1" sz="12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ro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&amp; Technologies</a:t>
            </a:r>
            <a:endParaRPr b="1"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ro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Unity 2021.3 LTS</a:t>
            </a:r>
            <a:br>
              <a:rPr lang="ro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o" sz="12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ro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https://unity.com/releases/editor/archive</a:t>
            </a:r>
            <a:endParaRPr sz="12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ro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Blender 3.6</a:t>
            </a:r>
            <a:br>
              <a:rPr lang="ro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o" sz="12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ro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https://www.blender.org/download/releases/3-6/</a:t>
            </a:r>
            <a:endParaRPr sz="12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ro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XR Interaction Toolkit</a:t>
            </a:r>
            <a:br>
              <a:rPr lang="ro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o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9"/>
              </a:rPr>
              <a:t>https://docs.unity3d.com/Packages/com.unity.xr.interaction.toolkit@2.3/manual/index.html</a:t>
            </a:r>
            <a:endParaRPr sz="12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ro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OpenXR / Oculus Integration</a:t>
            </a:r>
            <a:br>
              <a:rPr lang="ro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o" sz="12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ro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1"/>
              </a:rPr>
              <a:t>https://docs.unity3d.com/Packages/com.unity.xr.openxr@1.9/manual/index.html</a:t>
            </a:r>
            <a:br>
              <a:rPr lang="ro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2"/>
              </a:rPr>
            </a:br>
            <a:r>
              <a:rPr lang="ro" sz="1200">
                <a:solidFill>
                  <a:srgbClr val="000000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ro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4"/>
              </a:rPr>
              <a:t>https://assetstore.unity.com/packages/tools/integration/oculus-integration-82022</a:t>
            </a:r>
            <a:endParaRPr sz="12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</a:pPr>
            <a:r>
              <a:rPr lang="ro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TextMeshPro</a:t>
            </a:r>
            <a:br>
              <a:rPr lang="ro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o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5"/>
              </a:rPr>
              <a:t>https://docs.unity3d.com/Packages/com.unity.textmeshpro@3.0/manual/index.html</a:t>
            </a:r>
            <a:br>
              <a:rPr lang="ro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6"/>
              </a:rPr>
            </a:br>
            <a:endParaRPr sz="12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  <p:sp>
        <p:nvSpPr>
          <p:cNvPr id="120" name="Google Shape;120;p20"/>
          <p:cNvSpPr txBox="1"/>
          <p:nvPr/>
        </p:nvSpPr>
        <p:spPr>
          <a:xfrm>
            <a:off x="4572000" y="1152425"/>
            <a:ext cx="4106400" cy="212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ro" sz="1200">
                <a:latin typeface="Times New Roman"/>
                <a:ea typeface="Times New Roman"/>
                <a:cs typeface="Times New Roman"/>
                <a:sym typeface="Times New Roman"/>
              </a:rPr>
              <a:t>AI Tools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ro" sz="1200">
                <a:latin typeface="Times New Roman"/>
                <a:ea typeface="Times New Roman"/>
                <a:cs typeface="Times New Roman"/>
                <a:sym typeface="Times New Roman"/>
              </a:rPr>
              <a:t>LM Studio (LLM local pentru avataruri)</a:t>
            </a:r>
            <a:br>
              <a:rPr lang="ro" sz="12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o" sz="12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7"/>
              </a:rPr>
              <a:t> </a:t>
            </a:r>
            <a:r>
              <a:rPr lang="ro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8"/>
              </a:rPr>
              <a:t>https://lmstudio.ai/</a:t>
            </a:r>
            <a:endParaRPr sz="12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ro" sz="1200">
                <a:latin typeface="Times New Roman"/>
                <a:ea typeface="Times New Roman"/>
                <a:cs typeface="Times New Roman"/>
                <a:sym typeface="Times New Roman"/>
              </a:rPr>
              <a:t>Similar Projects </a:t>
            </a:r>
            <a:endParaRPr b="1"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ro" sz="1200">
                <a:latin typeface="Times New Roman"/>
                <a:ea typeface="Times New Roman"/>
                <a:cs typeface="Times New Roman"/>
                <a:sym typeface="Times New Roman"/>
              </a:rPr>
              <a:t>Engage VR</a:t>
            </a:r>
            <a:br>
              <a:rPr lang="ro" sz="12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o" sz="120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9"/>
              </a:rPr>
              <a:t> </a:t>
            </a:r>
            <a:r>
              <a:rPr lang="ro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0"/>
              </a:rPr>
              <a:t>https://engagevr.io/</a:t>
            </a:r>
            <a:endParaRPr sz="12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1" name="Google Shape;121;p20"/>
          <p:cNvCxnSpPr/>
          <p:nvPr/>
        </p:nvCxnSpPr>
        <p:spPr>
          <a:xfrm>
            <a:off x="4181850" y="1104100"/>
            <a:ext cx="17100" cy="197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20"/>
          <p:cNvCxnSpPr/>
          <p:nvPr/>
        </p:nvCxnSpPr>
        <p:spPr>
          <a:xfrm flipH="1" rot="10800000">
            <a:off x="4198950" y="3058550"/>
            <a:ext cx="4548000" cy="1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3" name="Google Shape;123;p20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7370638" y="407412"/>
            <a:ext cx="1220801" cy="78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